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320040"/>
            <a:ext cx="1005840" cy="1005840"/>
          </a:xfrm>
          <a:prstGeom prst="ellipse">
            <a:avLst/>
          </a:prstGeom>
          <a:solidFill>
            <a:srgbClr val="4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960120"/>
            <a:ext cx="502920" cy="502920"/>
          </a:xfrm>
          <a:prstGeom prst="ellipse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26880" y="5303520"/>
            <a:ext cx="1371600" cy="1371600"/>
          </a:xfrm>
          <a:prstGeom prst="ellipse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960120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0B4BE"/>
                </a:solidFill>
                <a:latin typeface="Aptos"/>
              </a:rPr>
              <a:t>HACKATOPIA 2K26  •  NATIONAL-LEVEL HACKATHON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554480"/>
            <a:ext cx="8686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CAREBRIDGE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85039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 Display"/>
              </a:rPr>
              <a:t>From Discharge Summary
to Patient Care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406908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D2E1E8"/>
                </a:solidFill>
                <a:latin typeface="Aptos"/>
              </a:rPr>
              <a:t>HC-01  |  Healthcare  |  GenAI • Translation • Reminders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498348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40B4BE"/>
                </a:solidFill>
                <a:latin typeface="Aptos"/>
              </a:rPr>
              <a:t>A patient-first layer between complex medical documents and everyday care.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92240"/>
            <a:ext cx="10927080" cy="10972"/>
          </a:xfrm>
          <a:prstGeom prst="rect">
            <a:avLst/>
          </a:prstGeom>
          <a:solidFill>
            <a:srgbClr val="4B6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6537960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B4C8D7"/>
                </a:solidFill>
                <a:latin typeface="Aptos"/>
              </a:rPr>
              <a:t>CAREBRIDGE  •  HACKATOPIA 2K26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519672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B4C8D7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038"/>
                </a:solidFill>
                <a:latin typeface="Aptos Display"/>
              </a:rPr>
              <a:t>01  |  Problem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F7D"/>
                </a:solidFill>
                <a:latin typeface="Aptos"/>
              </a:rPr>
              <a:t>HC-01 • Discharge summary to patient care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914400" cy="54864"/>
          </a:xfrm>
          <a:prstGeom prst="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52578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64008" cy="4160520"/>
          </a:xfrm>
          <a:prstGeom prst="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810512"/>
            <a:ext cx="4892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038"/>
                </a:solidFill>
                <a:latin typeface="Aptos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267712"/>
            <a:ext cx="4873752" cy="342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C2A36"/>
                </a:solidFill>
                <a:latin typeface="Aptos"/>
              </a:rPr>
              <a:t>Patients often leave hospitals with discharge summaries filled with medical terminology, abbreviations, medicine instructions and follow-up details that are difficult to interpret and act 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645920"/>
            <a:ext cx="5394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645920"/>
            <a:ext cx="64008" cy="1828800"/>
          </a:xfrm>
          <a:prstGeom prst="rect">
            <a:avLst/>
          </a:prstGeom>
          <a:solidFill>
            <a:srgbClr val="4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1810512"/>
            <a:ext cx="5029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038"/>
                </a:solidFill>
                <a:latin typeface="Aptos"/>
              </a:rPr>
              <a:t>Who is affected?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2267712"/>
            <a:ext cx="501091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C2A36"/>
                </a:solidFill>
                <a:latin typeface="Aptos"/>
              </a:rPr>
              <a:t>Patients and caregivers who need to convert clinician-facing instructions into simple, actionable daily care.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03320"/>
            <a:ext cx="539496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3703320"/>
            <a:ext cx="64008" cy="2103120"/>
          </a:xfrm>
          <a:prstGeom prst="rect">
            <a:avLst/>
          </a:prstGeom>
          <a:solidFill>
            <a:srgbClr val="E6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3867911"/>
            <a:ext cx="5029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038"/>
                </a:solidFill>
                <a:latin typeface="Aptos"/>
              </a:rPr>
              <a:t>Why it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325112"/>
            <a:ext cx="5010912" cy="1371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C2A36"/>
                </a:solidFill>
                <a:latin typeface="Aptos"/>
              </a:rPr>
              <a:t>Confusion can lead to missed doses, incorrect timing, missed follow-ups and avoidable gaps in post-discharge care.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5532120"/>
            <a:ext cx="1417320" cy="347472"/>
          </a:xfrm>
          <a:prstGeom prst="roundRect">
            <a:avLst/>
          </a:prstGeom>
          <a:solidFill>
            <a:srgbClr val="F2F7F9"/>
          </a:solidFill>
          <a:ln>
            <a:solidFill>
              <a:srgbClr val="F2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586983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0F2038"/>
                </a:solidFill>
                <a:latin typeface="Aptos"/>
              </a:rPr>
              <a:t>Clinician document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23160" y="5532120"/>
            <a:ext cx="1417320" cy="347472"/>
          </a:xfrm>
          <a:prstGeom prst="roundRect">
            <a:avLst/>
          </a:prstGeom>
          <a:solidFill>
            <a:srgbClr val="F2F7F9"/>
          </a:solidFill>
          <a:ln>
            <a:solidFill>
              <a:srgbClr val="F2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79" y="5586983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0F2038"/>
                </a:solidFill>
                <a:latin typeface="Aptos"/>
              </a:rPr>
              <a:t>Patient confusion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77639" y="5532120"/>
            <a:ext cx="1097280" cy="347472"/>
          </a:xfrm>
          <a:prstGeom prst="roundRect">
            <a:avLst/>
          </a:prstGeom>
          <a:solidFill>
            <a:srgbClr val="F2F7F9"/>
          </a:solidFill>
          <a:ln>
            <a:solidFill>
              <a:srgbClr val="F2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23359" y="5586983"/>
            <a:ext cx="100583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0F2038"/>
                </a:solidFill>
                <a:latin typeface="Aptos"/>
              </a:rPr>
              <a:t>Care gap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57800" y="5532120"/>
            <a:ext cx="1417320" cy="347472"/>
          </a:xfrm>
          <a:prstGeom prst="roundRect">
            <a:avLst/>
          </a:prstGeom>
          <a:solidFill>
            <a:srgbClr val="F2F7F9"/>
          </a:solidFill>
          <a:ln>
            <a:solidFill>
              <a:srgbClr val="F2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0" y="5586983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0F2038"/>
                </a:solidFill>
                <a:latin typeface="Aptos"/>
              </a:rPr>
              <a:t>Readmission risk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6492240"/>
            <a:ext cx="10927080" cy="10972"/>
          </a:xfrm>
          <a:prstGeom prst="rect">
            <a:avLst/>
          </a:prstGeom>
          <a:solidFill>
            <a:srgbClr val="D2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6537960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F7D"/>
                </a:solidFill>
                <a:latin typeface="Aptos"/>
              </a:rPr>
              <a:t>CAREBRIDGE  •  HACKATOPIA 2K26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519672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C6F7D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038"/>
                </a:solidFill>
                <a:latin typeface="Aptos Display"/>
              </a:rPr>
              <a:t>02  |  Existing Solutions &amp; Problem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F7D"/>
                </a:solidFill>
                <a:latin typeface="Aptos"/>
              </a:rPr>
              <a:t>Where current approaches fall short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914400" cy="54864"/>
          </a:xfrm>
          <a:prstGeom prst="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38328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64008" cy="4343400"/>
          </a:xfrm>
          <a:prstGeom prst="rect">
            <a:avLst/>
          </a:prstGeom>
          <a:solidFill>
            <a:srgbClr val="5C6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810512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038"/>
                </a:solidFill>
                <a:latin typeface="Aptos"/>
              </a:rPr>
              <a:t>Traditional discharge paper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267712"/>
            <a:ext cx="2999232" cy="3611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C2A36"/>
                </a:solidFill>
                <a:latin typeface="Aptos"/>
              </a:rPr>
              <a:t>• Static document
• Medical terminology
• Patient must interpret timing
• Follow-up details can be overlooked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38328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45920"/>
            <a:ext cx="64008" cy="4343400"/>
          </a:xfrm>
          <a:prstGeom prst="rect">
            <a:avLst/>
          </a:prstGeom>
          <a:solidFill>
            <a:srgbClr val="E6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810512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038"/>
                </a:solidFill>
                <a:latin typeface="Aptos"/>
              </a:rPr>
              <a:t>Manual digital tracking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267712"/>
            <a:ext cx="2999232" cy="3611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C2A36"/>
                </a:solidFill>
                <a:latin typeface="Aptos"/>
              </a:rPr>
              <a:t>• Requires repeated data entry
• Separate reminder tools
• No direct document understanding
• Context can be lost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645920"/>
            <a:ext cx="338328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645920"/>
            <a:ext cx="64008" cy="4343400"/>
          </a:xfrm>
          <a:prstGeom prst="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1810512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038"/>
                </a:solidFill>
                <a:latin typeface="Aptos"/>
              </a:rPr>
              <a:t>The identified gap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2267712"/>
            <a:ext cx="2999232" cy="3611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C2A36"/>
                </a:solidFill>
                <a:latin typeface="Aptos"/>
              </a:rPr>
              <a:t>A single patient-friendly layer that understands the discharge document, structures the care plan, translates it and turns important actions into reminders.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5650992"/>
            <a:ext cx="9235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49191"/>
                </a:solidFill>
                <a:latin typeface="Aptos"/>
              </a:rPr>
              <a:t>DOCUMENT  →  UNDERSTANDING  →  ACTION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492240"/>
            <a:ext cx="10927080" cy="10972"/>
          </a:xfrm>
          <a:prstGeom prst="rect">
            <a:avLst/>
          </a:prstGeom>
          <a:solidFill>
            <a:srgbClr val="D2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6537960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F7D"/>
                </a:solidFill>
                <a:latin typeface="Aptos"/>
              </a:rPr>
              <a:t>CAREBRIDGE  •  HACKATOPIA 2K26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519672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C6F7D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038"/>
                </a:solidFill>
                <a:latin typeface="Aptos Display"/>
              </a:rPr>
              <a:t>03  | 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F7D"/>
                </a:solidFill>
                <a:latin typeface="Aptos"/>
              </a:rPr>
              <a:t>CareBridge transforms clinical instructions into an actionable care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914400" cy="54864"/>
          </a:xfrm>
          <a:prstGeom prst="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1874519" cy="2057400"/>
          </a:xfrm>
          <a:prstGeom prst="roundRect">
            <a:avLst/>
          </a:prstGeom>
          <a:solidFill>
            <a:srgbClr val="F2F7F9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8720" y="1554480"/>
            <a:ext cx="502920" cy="502920"/>
          </a:xfrm>
          <a:prstGeom prst="ellipse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62763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F2038"/>
                </a:solidFill>
                <a:latin typeface="Aptos"/>
              </a:rPr>
              <a:t>Upload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88920"/>
            <a:ext cx="1600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5C6F7D"/>
                </a:solidFill>
                <a:latin typeface="Aptos"/>
              </a:rPr>
              <a:t>Discharge summary / prescription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404872" y="2697480"/>
            <a:ext cx="320040" cy="320040"/>
          </a:xfrm>
          <a:prstGeom prst="rightArrow">
            <a:avLst/>
          </a:prstGeom>
          <a:solidFill>
            <a:srgbClr val="4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0" y="1874519"/>
            <a:ext cx="1874519" cy="2057400"/>
          </a:xfrm>
          <a:prstGeom prst="roundRect">
            <a:avLst/>
          </a:prstGeom>
          <a:solidFill>
            <a:srgbClr val="F2F7F9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29000" y="1554480"/>
            <a:ext cx="502920" cy="502920"/>
          </a:xfrm>
          <a:prstGeom prst="ellipse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162763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331720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F2038"/>
                </a:solidFill>
                <a:latin typeface="Aptos"/>
              </a:rPr>
              <a:t>Extract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788920"/>
            <a:ext cx="1600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5C6F7D"/>
                </a:solidFill>
                <a:latin typeface="Aptos"/>
              </a:rPr>
              <a:t>Text &amp; medical instructions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645152" y="2697480"/>
            <a:ext cx="320040" cy="320040"/>
          </a:xfrm>
          <a:prstGeom prst="rightArrow">
            <a:avLst/>
          </a:prstGeom>
          <a:solidFill>
            <a:srgbClr val="4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983480" y="1874519"/>
            <a:ext cx="1874519" cy="2057400"/>
          </a:xfrm>
          <a:prstGeom prst="roundRect">
            <a:avLst/>
          </a:prstGeom>
          <a:solidFill>
            <a:srgbClr val="F2F7F9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0" y="1554480"/>
            <a:ext cx="502920" cy="502920"/>
          </a:xfrm>
          <a:prstGeom prst="ellipse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0" y="162763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2331720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F2038"/>
                </a:solidFill>
                <a:latin typeface="Aptos"/>
              </a:rPr>
              <a:t>Understand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2788920"/>
            <a:ext cx="1600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5C6F7D"/>
                </a:solidFill>
                <a:latin typeface="Aptos"/>
              </a:rPr>
              <a:t>GenAI structures the information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885432" y="2697480"/>
            <a:ext cx="320040" cy="320040"/>
          </a:xfrm>
          <a:prstGeom prst="rightArrow">
            <a:avLst/>
          </a:prstGeom>
          <a:solidFill>
            <a:srgbClr val="4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223760" y="1874519"/>
            <a:ext cx="1874519" cy="2057400"/>
          </a:xfrm>
          <a:prstGeom prst="roundRect">
            <a:avLst/>
          </a:prstGeom>
          <a:solidFill>
            <a:srgbClr val="F2F7F9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909560" y="1554480"/>
            <a:ext cx="502920" cy="502920"/>
          </a:xfrm>
          <a:prstGeom prst="ellipse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09560" y="162763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2331720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F2038"/>
                </a:solidFill>
                <a:latin typeface="Aptos"/>
              </a:rPr>
              <a:t>Personalize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2788920"/>
            <a:ext cx="1600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5C6F7D"/>
                </a:solidFill>
                <a:latin typeface="Aptos"/>
              </a:rPr>
              <a:t>Simple care plan + language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125712" y="2697480"/>
            <a:ext cx="320040" cy="320040"/>
          </a:xfrm>
          <a:prstGeom prst="rightArrow">
            <a:avLst/>
          </a:prstGeom>
          <a:solidFill>
            <a:srgbClr val="4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464040" y="1874519"/>
            <a:ext cx="1874519" cy="2057400"/>
          </a:xfrm>
          <a:prstGeom prst="roundRect">
            <a:avLst/>
          </a:prstGeom>
          <a:solidFill>
            <a:srgbClr val="F2F7F9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149840" y="1554480"/>
            <a:ext cx="502920" cy="502920"/>
          </a:xfrm>
          <a:prstGeom prst="ellipse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49840" y="162763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2331720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F2038"/>
                </a:solidFill>
                <a:latin typeface="Aptos"/>
              </a:rPr>
              <a:t>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2788920"/>
            <a:ext cx="1600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5C6F7D"/>
                </a:solidFill>
                <a:latin typeface="Aptos"/>
              </a:rPr>
              <a:t>Schedule reminders &amp; follow-ups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828800" y="4572000"/>
            <a:ext cx="85039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828800" y="4572000"/>
            <a:ext cx="64008" cy="1051560"/>
          </a:xfrm>
          <a:prstGeom prst="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29968" y="4736592"/>
            <a:ext cx="81381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038"/>
                </a:solidFill>
                <a:latin typeface="Aptos"/>
              </a:rPr>
              <a:t>Core output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29968" y="5193792"/>
            <a:ext cx="8119872" cy="320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C2A36"/>
                </a:solidFill>
                <a:latin typeface="Aptos"/>
              </a:rPr>
              <a:t>A clear, day-by-day care plan containing condition explanation, medicine schedule, warning signs, follow-up dates and reminders.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6492240"/>
            <a:ext cx="10927080" cy="10972"/>
          </a:xfrm>
          <a:prstGeom prst="rect">
            <a:avLst/>
          </a:prstGeom>
          <a:solidFill>
            <a:srgbClr val="D2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6537960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F7D"/>
                </a:solidFill>
                <a:latin typeface="Aptos"/>
              </a:rPr>
              <a:t>CAREBRIDGE  •  HACKATOPIA 2K26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89920" y="6519672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C6F7D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038"/>
                </a:solidFill>
                <a:latin typeface="Aptos Display"/>
              </a:rPr>
              <a:t>04  |  Innovation &amp; Unique 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F7D"/>
                </a:solidFill>
                <a:latin typeface="Aptos"/>
              </a:rPr>
              <a:t>Built around the patient's next action — not just document summarization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914400" cy="54864"/>
          </a:xfrm>
          <a:prstGeom prst="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52120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64008" cy="1737360"/>
          </a:xfrm>
          <a:prstGeom prst="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810512"/>
            <a:ext cx="48463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038"/>
                </a:solidFill>
                <a:latin typeface="Aptos"/>
              </a:rPr>
              <a:t>Patient-first interpretation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267712"/>
            <a:ext cx="4828032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C2A36"/>
                </a:solidFill>
                <a:latin typeface="Aptos"/>
              </a:rPr>
              <a:t>Converts clinician-facing language into simple, actionable instructions.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64008" cy="1737360"/>
          </a:xfrm>
          <a:prstGeom prst="rect">
            <a:avLst/>
          </a:prstGeom>
          <a:solidFill>
            <a:srgbClr val="4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810512"/>
            <a:ext cx="48463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038"/>
                </a:solidFill>
                <a:latin typeface="Aptos"/>
              </a:rPr>
              <a:t>Structured care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267712"/>
            <a:ext cx="4828032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C2A36"/>
                </a:solidFill>
                <a:latin typeface="Aptos"/>
              </a:rPr>
              <a:t>Turns unstructured discharge content into medicines, timing, warnings and follow-ups.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03320"/>
            <a:ext cx="52120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703320"/>
            <a:ext cx="64008" cy="1737360"/>
          </a:xfrm>
          <a:prstGeom prst="rect">
            <a:avLst/>
          </a:prstGeom>
          <a:solidFill>
            <a:srgbClr val="36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3867911"/>
            <a:ext cx="48463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038"/>
                </a:solidFill>
                <a:latin typeface="Aptos"/>
              </a:rPr>
              <a:t>Multilingual 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4325112"/>
            <a:ext cx="4828032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C2A36"/>
                </a:solidFill>
                <a:latin typeface="Aptos"/>
              </a:rPr>
              <a:t>Supports translation into Indian languages so the plan is easier to understand.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703320"/>
            <a:ext cx="52120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703320"/>
            <a:ext cx="64008" cy="1737360"/>
          </a:xfrm>
          <a:prstGeom prst="rect">
            <a:avLst/>
          </a:prstGeom>
          <a:solidFill>
            <a:srgbClr val="E6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3867911"/>
            <a:ext cx="48463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038"/>
                </a:solidFill>
                <a:latin typeface="Aptos"/>
              </a:rPr>
              <a:t>Action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4325112"/>
            <a:ext cx="4828032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C2A36"/>
                </a:solidFill>
                <a:latin typeface="Aptos"/>
              </a:rPr>
              <a:t>Moves beyond text generation with reminders and follow-up actions.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" y="5715000"/>
            <a:ext cx="10149840" cy="502920"/>
          </a:xfrm>
          <a:prstGeom prst="roundRect">
            <a:avLst/>
          </a:prstGeom>
          <a:solidFill>
            <a:srgbClr val="0F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5833872"/>
            <a:ext cx="9784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USP  •  One document → one understandable, multilingual, actionable care journey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6492240"/>
            <a:ext cx="10927080" cy="10972"/>
          </a:xfrm>
          <a:prstGeom prst="rect">
            <a:avLst/>
          </a:prstGeom>
          <a:solidFill>
            <a:srgbClr val="D2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6537960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F7D"/>
                </a:solidFill>
                <a:latin typeface="Aptos"/>
              </a:rPr>
              <a:t>CAREBRIDGE  •  HACKATOPIA 2K26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519672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C6F7D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789920" cy="5029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2600" b="1">
                <a:solidFill>
                  <a:srgbClr val="0F2038"/>
                </a:solidFill>
                <a:latin typeface="Aptos"/>
              </a:rPr>
              <a:t>05  |  How the Solution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14400"/>
            <a:ext cx="10424160" cy="32004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5C6F7D"/>
                </a:solidFill>
                <a:latin typeface="Aptos"/>
              </a:rPr>
              <a:t>Complete user journey from upload to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914400" cy="54864"/>
          </a:xfrm>
          <a:prstGeom prst="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74519"/>
            <a:ext cx="1700784" cy="21488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4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2258568"/>
            <a:ext cx="1481328" cy="56692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250" b="1">
                <a:solidFill>
                  <a:srgbClr val="149191"/>
                </a:solidFill>
                <a:latin typeface="Aptos"/>
              </a:rPr>
              <a:t>Patient / Caregiver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" y="3063239"/>
            <a:ext cx="1444752" cy="64008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69" b="0">
                <a:solidFill>
                  <a:srgbClr val="5C6F7D"/>
                </a:solidFill>
                <a:latin typeface="Aptos"/>
              </a:rPr>
              <a:t>Uploads
document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221992" y="2743200"/>
            <a:ext cx="128016" cy="256032"/>
          </a:xfrm>
          <a:prstGeom prst="rightArrow">
            <a:avLst/>
          </a:prstGeom>
          <a:solidFill>
            <a:srgbClr val="D2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368296" y="1874519"/>
            <a:ext cx="1700784" cy="21488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0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78024" y="2258568"/>
            <a:ext cx="1481328" cy="56692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250" b="1">
                <a:solidFill>
                  <a:srgbClr val="40B4BE"/>
                </a:solidFill>
                <a:latin typeface="Aptos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96312" y="3063239"/>
            <a:ext cx="1444752" cy="64008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69" b="0">
                <a:solidFill>
                  <a:srgbClr val="5C6F7D"/>
                </a:solidFill>
                <a:latin typeface="Aptos"/>
              </a:rPr>
              <a:t>Collects input &amp;
displays plan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087368" y="2743200"/>
            <a:ext cx="128016" cy="256032"/>
          </a:xfrm>
          <a:prstGeom prst="rightArrow">
            <a:avLst/>
          </a:prstGeom>
          <a:solidFill>
            <a:srgbClr val="D2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33672" y="1874519"/>
            <a:ext cx="1700784" cy="21488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36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2258568"/>
            <a:ext cx="1481328" cy="56692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250" b="1">
                <a:solidFill>
                  <a:srgbClr val="369669"/>
                </a:solidFill>
                <a:latin typeface="Aptos"/>
              </a:rPr>
              <a:t>Backend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3063239"/>
            <a:ext cx="1444752" cy="64008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69" b="0">
                <a:solidFill>
                  <a:srgbClr val="5C6F7D"/>
                </a:solidFill>
                <a:latin typeface="Aptos"/>
              </a:rPr>
              <a:t>Extracts document
content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52744" y="2743200"/>
            <a:ext cx="128016" cy="256032"/>
          </a:xfrm>
          <a:prstGeom prst="rightArrow">
            <a:avLst/>
          </a:prstGeom>
          <a:solidFill>
            <a:srgbClr val="D2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99048" y="1874519"/>
            <a:ext cx="1700784" cy="21488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E6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08776" y="2258568"/>
            <a:ext cx="1481328" cy="56692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250" b="1">
                <a:solidFill>
                  <a:srgbClr val="E69137"/>
                </a:solidFill>
                <a:latin typeface="Aptos"/>
              </a:rPr>
              <a:t>Gemini GenAI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7064" y="3063239"/>
            <a:ext cx="1444752" cy="64008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69" b="0">
                <a:solidFill>
                  <a:srgbClr val="5C6F7D"/>
                </a:solidFill>
                <a:latin typeface="Aptos"/>
              </a:rPr>
              <a:t>Structures
care plan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818119" y="2743200"/>
            <a:ext cx="128016" cy="256032"/>
          </a:xfrm>
          <a:prstGeom prst="rightArrow">
            <a:avLst/>
          </a:prstGeom>
          <a:solidFill>
            <a:srgbClr val="D2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64424" y="1874519"/>
            <a:ext cx="1700784" cy="21488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4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74152" y="2258568"/>
            <a:ext cx="1481328" cy="56692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250" b="1">
                <a:solidFill>
                  <a:srgbClr val="149191"/>
                </a:solidFill>
                <a:latin typeface="Aptos"/>
              </a:rPr>
              <a:t>MongoDB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3063239"/>
            <a:ext cx="1444752" cy="64008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69" b="0">
                <a:solidFill>
                  <a:srgbClr val="5C6F7D"/>
                </a:solidFill>
                <a:latin typeface="Aptos"/>
              </a:rPr>
              <a:t>Stores application
data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683496" y="2743200"/>
            <a:ext cx="128016" cy="256032"/>
          </a:xfrm>
          <a:prstGeom prst="rightArrow">
            <a:avLst/>
          </a:prstGeom>
          <a:solidFill>
            <a:srgbClr val="D2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829800" y="1874519"/>
            <a:ext cx="1700784" cy="21488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F2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39528" y="2258568"/>
            <a:ext cx="1481328" cy="56692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250" b="1">
                <a:solidFill>
                  <a:srgbClr val="0F2038"/>
                </a:solidFill>
                <a:latin typeface="Aptos"/>
              </a:rPr>
              <a:t>Patient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57816" y="3063239"/>
            <a:ext cx="1444752" cy="64008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69" b="0">
                <a:solidFill>
                  <a:srgbClr val="5C6F7D"/>
                </a:solidFill>
                <a:latin typeface="Aptos"/>
              </a:rPr>
              <a:t>Reads, translates &amp;
follows plan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4617720"/>
            <a:ext cx="30632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4400" y="4617720"/>
            <a:ext cx="64008" cy="1143000"/>
          </a:xfrm>
          <a:prstGeom prst="rect">
            <a:avLst/>
          </a:prstGeom>
          <a:solidFill>
            <a:srgbClr val="CD5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5568" y="4773168"/>
            <a:ext cx="2697480" cy="29260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0F2038"/>
                </a:solidFill>
                <a:latin typeface="Aptos"/>
              </a:rPr>
              <a:t>Decision point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" y="5148072"/>
            <a:ext cx="2670048" cy="43891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980" b="0">
                <a:solidFill>
                  <a:srgbClr val="1C2A36"/>
                </a:solidFill>
                <a:latin typeface="Aptos"/>
              </a:rPr>
              <a:t>Preserve uncertainty rather than invent clinical facts.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25112" y="4617720"/>
            <a:ext cx="30632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25112" y="4617720"/>
            <a:ext cx="64008" cy="1143000"/>
          </a:xfrm>
          <a:prstGeom prst="rect">
            <a:avLst/>
          </a:prstGeom>
          <a:solidFill>
            <a:srgbClr val="36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26280" y="4773168"/>
            <a:ext cx="2697480" cy="29260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0F2038"/>
                </a:solidFill>
                <a:latin typeface="Aptos"/>
              </a:rPr>
              <a:t>Patient interaction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280" y="5148072"/>
            <a:ext cx="2670048" cy="43891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980" b="0">
                <a:solidFill>
                  <a:srgbClr val="1C2A36"/>
                </a:solidFill>
                <a:latin typeface="Aptos"/>
              </a:rPr>
              <a:t>Choose preferred language and view simplified instructions.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35824" y="4617720"/>
            <a:ext cx="30632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35824" y="4617720"/>
            <a:ext cx="64008" cy="1143000"/>
          </a:xfrm>
          <a:prstGeom prst="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36992" y="4773168"/>
            <a:ext cx="2697480" cy="29260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400" b="1">
                <a:solidFill>
                  <a:srgbClr val="0F2038"/>
                </a:solidFill>
                <a:latin typeface="Aptos"/>
              </a:rPr>
              <a:t>Action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36992" y="5148072"/>
            <a:ext cx="2670048" cy="43891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980" b="0">
                <a:solidFill>
                  <a:srgbClr val="1C2A36"/>
                </a:solidFill>
                <a:latin typeface="Aptos"/>
              </a:rPr>
              <a:t>Use reminders and follow-up dates to support adherence.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6492240"/>
            <a:ext cx="10927080" cy="10972"/>
          </a:xfrm>
          <a:prstGeom prst="rect">
            <a:avLst/>
          </a:prstGeom>
          <a:solidFill>
            <a:srgbClr val="D2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6537960"/>
            <a:ext cx="4572000" cy="18288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800" b="1">
                <a:solidFill>
                  <a:srgbClr val="5C6F7D"/>
                </a:solidFill>
                <a:latin typeface="Aptos"/>
              </a:rPr>
              <a:t>CAREBRIDGE  •  HACKATOPIA 2K26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0" y="6519672"/>
            <a:ext cx="640080" cy="18288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5C6F7D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038"/>
                </a:solidFill>
                <a:latin typeface="Aptos Display"/>
              </a:rPr>
              <a:t>06  | 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F7D"/>
                </a:solidFill>
                <a:latin typeface="Aptos"/>
              </a:rPr>
              <a:t>Selected for fast implementation, maintainability and hackathon feasibility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914400" cy="54864"/>
          </a:xfrm>
          <a:prstGeom prst="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4747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64008" cy="1645920"/>
          </a:xfrm>
          <a:prstGeom prst="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810512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038"/>
                </a:solidFill>
                <a:latin typeface="Aptos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267712"/>
            <a:ext cx="309067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C2A36"/>
                </a:solidFill>
                <a:latin typeface="Aptos"/>
              </a:rPr>
              <a:t>React + Vite
Responsive patient 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45920"/>
            <a:ext cx="34747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645920"/>
            <a:ext cx="64008" cy="1645920"/>
          </a:xfrm>
          <a:prstGeom prst="rect">
            <a:avLst/>
          </a:prstGeom>
          <a:solidFill>
            <a:srgbClr val="4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1810512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038"/>
                </a:solidFill>
                <a:latin typeface="Aptos"/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2267712"/>
            <a:ext cx="309067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C2A36"/>
                </a:solidFill>
                <a:latin typeface="Aptos"/>
              </a:rPr>
              <a:t>Node.js + Express
REST API, upload &amp; orchestration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645920"/>
            <a:ext cx="34747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645920"/>
            <a:ext cx="64008" cy="1645920"/>
          </a:xfrm>
          <a:prstGeom prst="rect">
            <a:avLst/>
          </a:prstGeom>
          <a:solidFill>
            <a:srgbClr val="E6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0768" y="1810512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038"/>
                </a:solidFill>
                <a:latin typeface="Aptos"/>
              </a:rPr>
              <a:t>AI / 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2267712"/>
            <a:ext cx="309067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C2A36"/>
                </a:solidFill>
                <a:latin typeface="Aptos"/>
              </a:rPr>
              <a:t>Google Gemini
Care-plan generation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657600"/>
            <a:ext cx="34747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657600"/>
            <a:ext cx="64008" cy="1645920"/>
          </a:xfrm>
          <a:prstGeom prst="rect">
            <a:avLst/>
          </a:prstGeom>
          <a:solidFill>
            <a:srgbClr val="36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" y="3822191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038"/>
                </a:solidFill>
                <a:latin typeface="Aptos"/>
              </a:rPr>
              <a:t>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4279392"/>
            <a:ext cx="309067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C2A36"/>
                </a:solidFill>
                <a:latin typeface="Aptos"/>
              </a:rPr>
              <a:t>MongoDB Atlas
Application and care-plan data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657600"/>
            <a:ext cx="34747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657600"/>
            <a:ext cx="64008" cy="1645920"/>
          </a:xfrm>
          <a:prstGeom prst="rect">
            <a:avLst/>
          </a:prstGeom>
          <a:solidFill>
            <a:srgbClr val="0F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008" y="3822191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038"/>
                </a:solidFill>
                <a:latin typeface="Aptos"/>
              </a:rPr>
              <a:t>Document processing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8" y="4279392"/>
            <a:ext cx="309067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C2A36"/>
                </a:solidFill>
                <a:latin typeface="Aptos"/>
              </a:rPr>
              <a:t>Multer + PDF parsing + Mammoth
PDF / document ingestion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657600"/>
            <a:ext cx="34747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657600"/>
            <a:ext cx="64008" cy="1645920"/>
          </a:xfrm>
          <a:prstGeom prst="rect">
            <a:avLst/>
          </a:prstGeom>
          <a:solidFill>
            <a:srgbClr val="5C6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30768" y="3822191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038"/>
                </a:solidFill>
                <a:latin typeface="Aptos"/>
              </a:rPr>
              <a:t>Cloud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0768" y="4279392"/>
            <a:ext cx="309067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C2A36"/>
                </a:solidFill>
                <a:latin typeface="Aptos"/>
              </a:rPr>
              <a:t>Vercel + GitHub
Deployment &amp; CI workflow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5806440"/>
            <a:ext cx="914400" cy="347472"/>
          </a:xfrm>
          <a:prstGeom prst="roundRect">
            <a:avLst/>
          </a:prstGeom>
          <a:solidFill>
            <a:srgbClr val="EBF6F7"/>
          </a:solidFill>
          <a:ln>
            <a:solidFill>
              <a:srgbClr val="EBF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861303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149191"/>
                </a:solidFill>
                <a:latin typeface="Aptos"/>
              </a:rPr>
              <a:t>GenAI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28800" y="5806440"/>
            <a:ext cx="1097280" cy="347472"/>
          </a:xfrm>
          <a:prstGeom prst="roundRect">
            <a:avLst/>
          </a:prstGeom>
          <a:solidFill>
            <a:srgbClr val="EBF6F7"/>
          </a:solidFill>
          <a:ln>
            <a:solidFill>
              <a:srgbClr val="EBF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74519" y="5861303"/>
            <a:ext cx="100583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149191"/>
                </a:solidFill>
                <a:latin typeface="Aptos"/>
              </a:rPr>
              <a:t>REST API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806440"/>
            <a:ext cx="1097280" cy="347472"/>
          </a:xfrm>
          <a:prstGeom prst="roundRect">
            <a:avLst/>
          </a:prstGeom>
          <a:solidFill>
            <a:srgbClr val="EBF6F7"/>
          </a:solidFill>
          <a:ln>
            <a:solidFill>
              <a:srgbClr val="EBF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08960" y="5861303"/>
            <a:ext cx="1005839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369669"/>
                </a:solidFill>
                <a:latin typeface="Aptos"/>
              </a:rPr>
              <a:t>Cloud DB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97680" y="5806440"/>
            <a:ext cx="1234440" cy="347472"/>
          </a:xfrm>
          <a:prstGeom prst="roundRect">
            <a:avLst/>
          </a:prstGeom>
          <a:solidFill>
            <a:srgbClr val="EBF6F7"/>
          </a:solidFill>
          <a:ln>
            <a:solidFill>
              <a:srgbClr val="EBF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43400" y="5861303"/>
            <a:ext cx="1143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E69137"/>
                </a:solidFill>
                <a:latin typeface="Aptos"/>
              </a:rPr>
              <a:t>Translation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0" y="5806440"/>
            <a:ext cx="1143000" cy="347472"/>
          </a:xfrm>
          <a:prstGeom prst="roundRect">
            <a:avLst/>
          </a:prstGeom>
          <a:solidFill>
            <a:srgbClr val="EBF6F7"/>
          </a:solidFill>
          <a:ln>
            <a:solidFill>
              <a:srgbClr val="EBF6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15000" y="5861303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0F2038"/>
                </a:solidFill>
                <a:latin typeface="Aptos"/>
              </a:rPr>
              <a:t>Reminders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6492240"/>
            <a:ext cx="10927080" cy="10972"/>
          </a:xfrm>
          <a:prstGeom prst="rect">
            <a:avLst/>
          </a:prstGeom>
          <a:solidFill>
            <a:srgbClr val="D2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" y="6537960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F7D"/>
                </a:solidFill>
                <a:latin typeface="Aptos"/>
              </a:rPr>
              <a:t>CAREBRIDGE  •  HACKATOPIA 2K26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0" y="6519672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C6F7D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038"/>
                </a:solidFill>
                <a:latin typeface="Aptos Display"/>
              </a:rPr>
              <a:t>07  | 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F7D"/>
                </a:solidFill>
                <a:latin typeface="Aptos"/>
              </a:rPr>
              <a:t>Understandable at a glance — modular and deployable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914400" cy="54864"/>
          </a:xfrm>
          <a:prstGeom prst="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0744200" cy="6858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4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6479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49191"/>
                </a:solidFill>
                <a:latin typeface="Aptos"/>
              </a:rPr>
              <a:t>USER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709928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038"/>
                </a:solidFill>
                <a:latin typeface="Aptos"/>
              </a:rPr>
              <a:t>Patient / Caregiver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0" y="1746504"/>
            <a:ext cx="5989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C6F7D"/>
                </a:solidFill>
                <a:latin typeface="Aptos"/>
              </a:rPr>
              <a:t>Browser • Upload • Language • Care plan • Reminders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14600"/>
            <a:ext cx="10744200" cy="6858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40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7919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40B4BE"/>
                </a:solidFill>
                <a:latin typeface="Aptos"/>
              </a:rPr>
              <a:t>APPLICATION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624328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038"/>
                </a:solidFill>
                <a:latin typeface="Aptos"/>
              </a:rPr>
              <a:t>React + Vite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2660904"/>
            <a:ext cx="5989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C6F7D"/>
                </a:solidFill>
                <a:latin typeface="Aptos"/>
              </a:rPr>
              <a:t>UI state • API calls • patient experience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29000"/>
            <a:ext cx="10744200" cy="6858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0F2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9359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2038"/>
                </a:solidFill>
                <a:latin typeface="Aptos"/>
              </a:rPr>
              <a:t>SERVICE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538728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038"/>
                </a:solidFill>
                <a:latin typeface="Aptos"/>
              </a:rPr>
              <a:t>Node.js + Express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3575304"/>
            <a:ext cx="5989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C6F7D"/>
                </a:solidFill>
                <a:latin typeface="Aptos"/>
              </a:rPr>
              <a:t>Auth • upload • extraction • care-plan API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343400"/>
            <a:ext cx="10744200" cy="6858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E6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50799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E69137"/>
                </a:solidFill>
                <a:latin typeface="Aptos"/>
              </a:rPr>
              <a:t>AI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4453128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038"/>
                </a:solidFill>
                <a:latin typeface="Aptos"/>
              </a:rPr>
              <a:t>Google Gemini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4489704"/>
            <a:ext cx="5989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C6F7D"/>
                </a:solidFill>
                <a:latin typeface="Aptos"/>
              </a:rPr>
              <a:t>Structured care-plan generation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257800"/>
            <a:ext cx="10744200" cy="6858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36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42239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69669"/>
                </a:solidFill>
                <a:latin typeface="Aptos"/>
              </a:rPr>
              <a:t>DATA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5367528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038"/>
                </a:solidFill>
                <a:latin typeface="Aptos"/>
              </a:rPr>
              <a:t>MongoDB Atlas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5404104"/>
            <a:ext cx="5989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C6F7D"/>
                </a:solidFill>
                <a:latin typeface="Aptos"/>
              </a:rPr>
              <a:t>Users • care plans • reminders • metadata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6492240"/>
            <a:ext cx="10927080" cy="10972"/>
          </a:xfrm>
          <a:prstGeom prst="rect">
            <a:avLst/>
          </a:prstGeom>
          <a:solidFill>
            <a:srgbClr val="D2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6537960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F7D"/>
                </a:solidFill>
                <a:latin typeface="Aptos"/>
              </a:rPr>
              <a:t>CAREBRIDGE  •  HACKATOPIA 2K26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519672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C6F7D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2038"/>
                </a:solidFill>
                <a:latin typeface="Aptos Display"/>
              </a:rPr>
              <a:t>08  |  Technical Feasibility &amp;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F7D"/>
                </a:solidFill>
                <a:latin typeface="Aptos"/>
              </a:rPr>
              <a:t>Built as a practical hackathon MVP with a clear path to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914400" cy="54864"/>
          </a:xfrm>
          <a:prstGeom prst="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34747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64008" cy="4434840"/>
          </a:xfrm>
          <a:prstGeom prst="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64792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038"/>
                </a:solidFill>
                <a:latin typeface="Aptos"/>
              </a:rPr>
              <a:t>24-hour implementation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221992"/>
            <a:ext cx="3090672" cy="3703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C2A36"/>
                </a:solidFill>
                <a:latin typeface="Aptos"/>
              </a:rPr>
              <a:t>1. Build patient UI
2. Integrate document upload
3. Connect extraction pipeline
4. Integrate Gemini care-plan generation
5. Add translation layer
6. Add reminders &amp; persistence
7. Test end-to-end demo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00200"/>
            <a:ext cx="34747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00200"/>
            <a:ext cx="64008" cy="4434840"/>
          </a:xfrm>
          <a:prstGeom prst="rect">
            <a:avLst/>
          </a:prstGeom>
          <a:solidFill>
            <a:srgbClr val="E6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764792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038"/>
                </a:solidFill>
                <a:latin typeface="Aptos"/>
              </a:rPr>
              <a:t>Major technical challenges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221992"/>
            <a:ext cx="3090672" cy="3703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C2A36"/>
                </a:solidFill>
                <a:latin typeface="Aptos"/>
              </a:rPr>
              <a:t>• Gemini/API configuration
• PDF/document extraction
• MongoDB connectivity
• Deployment differences between local and cloud
• Preserving API behavior while deploying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00200"/>
            <a:ext cx="34747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00200"/>
            <a:ext cx="64008" cy="4434840"/>
          </a:xfrm>
          <a:prstGeom prst="rect">
            <a:avLst/>
          </a:prstGeom>
          <a:solidFill>
            <a:srgbClr val="36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764792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038"/>
                </a:solidFill>
                <a:latin typeface="Aptos"/>
              </a:rPr>
              <a:t>Mitigation &amp; current 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221992"/>
            <a:ext cx="3090672" cy="3703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C2A36"/>
                </a:solidFill>
                <a:latin typeface="Aptos"/>
              </a:rPr>
              <a:t>• Environment variables isolated from code
• MongoDB Atlas used for cloud data
• Modular Express routes
• Frontend already deployable on Vercel
• Backend deployment being finalized for production demo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492240"/>
            <a:ext cx="10927080" cy="10972"/>
          </a:xfrm>
          <a:prstGeom prst="rect">
            <a:avLst/>
          </a:prstGeom>
          <a:solidFill>
            <a:srgbClr val="D2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537960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C6F7D"/>
                </a:solidFill>
                <a:latin typeface="Aptos"/>
              </a:rPr>
              <a:t>CAREBRIDGE  •  HACKATOPIA 2K26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519672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C6F7D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0B4BE"/>
                </a:solidFill>
                <a:latin typeface="Aptos"/>
              </a:rPr>
              <a:t>09–10  |  Future Scope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 Display"/>
              </a:rPr>
              <a:t>Make discharge instructions
understandable — and actionable.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788920"/>
            <a:ext cx="3337560" cy="1325880"/>
          </a:xfrm>
          <a:prstGeom prst="roundRect">
            <a:avLst/>
          </a:prstGeom>
          <a:solidFill>
            <a:srgbClr val="192F49"/>
          </a:solidFill>
          <a:ln>
            <a:solidFill>
              <a:srgbClr val="14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01752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9191"/>
                </a:solidFill>
                <a:latin typeface="Aptos"/>
              </a:rPr>
              <a:t>Clarity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429000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ptos"/>
              </a:rPr>
              <a:t>Simplify complex discharge instructions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2788920"/>
            <a:ext cx="3337560" cy="1325880"/>
          </a:xfrm>
          <a:prstGeom prst="roundRect">
            <a:avLst/>
          </a:prstGeom>
          <a:solidFill>
            <a:srgbClr val="192F49"/>
          </a:solidFill>
          <a:ln>
            <a:solidFill>
              <a:srgbClr val="40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301752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0B4BE"/>
                </a:solidFill>
                <a:latin typeface="Aptos"/>
              </a:rPr>
              <a:t>Accessibility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429000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ptos"/>
              </a:rPr>
              <a:t>Reach patients in their preferred language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2788920"/>
            <a:ext cx="3337560" cy="1325880"/>
          </a:xfrm>
          <a:prstGeom prst="roundRect">
            <a:avLst/>
          </a:prstGeom>
          <a:solidFill>
            <a:srgbClr val="192F49"/>
          </a:solidFill>
          <a:ln>
            <a:solidFill>
              <a:srgbClr val="36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59" y="301752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69669"/>
                </a:solidFill>
                <a:latin typeface="Aptos"/>
              </a:rPr>
              <a:t>Adherence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59" y="3429000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ptos"/>
              </a:rPr>
              <a:t>Turn instructions into reminders and follow-ups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617720"/>
            <a:ext cx="5212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4617720"/>
            <a:ext cx="64008" cy="914400"/>
          </a:xfrm>
          <a:prstGeom prst="rect">
            <a:avLst/>
          </a:prstGeom>
          <a:solidFill>
            <a:srgbClr val="14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4782312"/>
            <a:ext cx="48463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038"/>
                </a:solidFill>
                <a:latin typeface="Aptos"/>
              </a:rPr>
              <a:t>Future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5239512"/>
            <a:ext cx="4828032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C2A36"/>
                </a:solidFill>
                <a:latin typeface="Aptos"/>
              </a:rPr>
              <a:t>More Indian languages • EHR/pharmacy integrations • richer adherence analytics • clinician dashboard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617720"/>
            <a:ext cx="5212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617720"/>
            <a:ext cx="64008" cy="914400"/>
          </a:xfrm>
          <a:prstGeom prst="rect">
            <a:avLst/>
          </a:prstGeom>
          <a:solidFill>
            <a:srgbClr val="40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4782312"/>
            <a:ext cx="48463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2038"/>
                </a:solidFill>
                <a:latin typeface="Aptos"/>
              </a:rPr>
              <a:t>Final vision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5239512"/>
            <a:ext cx="4828032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C2A36"/>
                </a:solidFill>
                <a:latin typeface="Aptos"/>
              </a:rPr>
              <a:t>A trusted post-discharge companion that bridges medical instructions and everyday patient action.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897880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40B4BE"/>
                </a:solidFill>
                <a:latin typeface="Aptos"/>
              </a:rPr>
              <a:t>CAREBRIDGE  •  HC-01  •  HEALTHCARE  •  GENAI + TRANSLATION + REMINDERS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492240"/>
            <a:ext cx="10927080" cy="10972"/>
          </a:xfrm>
          <a:prstGeom prst="rect">
            <a:avLst/>
          </a:prstGeom>
          <a:solidFill>
            <a:srgbClr val="4B6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6537960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B4C8D7"/>
                </a:solidFill>
                <a:latin typeface="Aptos"/>
              </a:rPr>
              <a:t>CAREBRIDGE  •  HACKATOPIA 2K26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519672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B4C8D7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